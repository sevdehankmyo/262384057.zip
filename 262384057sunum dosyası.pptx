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72" r:id="rId5"/>
    <p:sldId id="273" r:id="rId6"/>
    <p:sldId id="270" r:id="rId7"/>
    <p:sldId id="259" r:id="rId8"/>
    <p:sldId id="260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F0F67E-9EA2-40FF-9CCE-7AC1C8EBF410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82BEDA70-89F6-4A43-BBB1-D7FE8B2C29FE}">
      <dgm:prSet phldrT="[Metin]" custT="1"/>
      <dgm:spPr/>
      <dgm:t>
        <a:bodyPr/>
        <a:lstStyle/>
        <a:p>
          <a:r>
            <a:rPr lang="tr-TR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kodlama</a:t>
          </a:r>
          <a:endParaRPr lang="tr-TR" sz="20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7D7432E-FCA9-40E4-9D94-22884A3EB07C}" type="parTrans" cxnId="{16519B43-765B-4644-A8CC-4412C2A80B2C}">
      <dgm:prSet/>
      <dgm:spPr/>
      <dgm:t>
        <a:bodyPr/>
        <a:lstStyle/>
        <a:p>
          <a:endParaRPr lang="tr-TR"/>
        </a:p>
      </dgm:t>
    </dgm:pt>
    <dgm:pt modelId="{634EC738-1DBF-465D-8D85-E38EF14F66AC}" type="sibTrans" cxnId="{16519B43-765B-4644-A8CC-4412C2A80B2C}">
      <dgm:prSet/>
      <dgm:spPr/>
      <dgm:t>
        <a:bodyPr/>
        <a:lstStyle/>
        <a:p>
          <a:endParaRPr lang="tr-TR"/>
        </a:p>
      </dgm:t>
    </dgm:pt>
    <dgm:pt modelId="{F3450DD4-FF7C-4E85-A059-97F10BF9FB48}">
      <dgm:prSet phldrT="[Metin]" custT="1"/>
      <dgm:spPr/>
      <dgm:t>
        <a:bodyPr/>
        <a:lstStyle/>
        <a:p>
          <a:r>
            <a:rPr lang="tr-TR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test</a:t>
          </a:r>
          <a:endParaRPr lang="tr-TR" sz="20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8C68560-31B1-492F-9D38-F962D51DB693}" type="parTrans" cxnId="{A411F91D-772B-40AF-8D96-F78EB9C01765}">
      <dgm:prSet/>
      <dgm:spPr/>
      <dgm:t>
        <a:bodyPr/>
        <a:lstStyle/>
        <a:p>
          <a:endParaRPr lang="tr-TR"/>
        </a:p>
      </dgm:t>
    </dgm:pt>
    <dgm:pt modelId="{B826D916-2C46-4563-87DD-6A550AFF848A}" type="sibTrans" cxnId="{A411F91D-772B-40AF-8D96-F78EB9C01765}">
      <dgm:prSet/>
      <dgm:spPr/>
      <dgm:t>
        <a:bodyPr/>
        <a:lstStyle/>
        <a:p>
          <a:endParaRPr lang="tr-TR"/>
        </a:p>
      </dgm:t>
    </dgm:pt>
    <dgm:pt modelId="{777531B3-1F1B-4ADF-BD82-49B6F398AE83}">
      <dgm:prSet phldrT="[Metin]" custT="1"/>
      <dgm:spPr/>
      <dgm:t>
        <a:bodyPr/>
        <a:lstStyle/>
        <a:p>
          <a:r>
            <a:rPr lang="tr-TR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Geri bildirim</a:t>
          </a:r>
          <a:endParaRPr lang="tr-TR" sz="20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9EE35C-9C5E-430E-94DA-F8D9FB02976B}" type="parTrans" cxnId="{7614AB8F-FD79-45E1-BE4C-EDEF797CBA47}">
      <dgm:prSet/>
      <dgm:spPr/>
      <dgm:t>
        <a:bodyPr/>
        <a:lstStyle/>
        <a:p>
          <a:endParaRPr lang="tr-TR"/>
        </a:p>
      </dgm:t>
    </dgm:pt>
    <dgm:pt modelId="{50E41641-8F37-40F9-A2FA-FC74267CE39F}" type="sibTrans" cxnId="{7614AB8F-FD79-45E1-BE4C-EDEF797CBA47}">
      <dgm:prSet/>
      <dgm:spPr/>
      <dgm:t>
        <a:bodyPr/>
        <a:lstStyle/>
        <a:p>
          <a:endParaRPr lang="tr-TR"/>
        </a:p>
      </dgm:t>
    </dgm:pt>
    <dgm:pt modelId="{7C241D95-DEDF-459B-B1A1-E65C184DA6B9}" type="pres">
      <dgm:prSet presAssocID="{C0F0F67E-9EA2-40FF-9CCE-7AC1C8EBF410}" presName="Name0" presStyleCnt="0">
        <dgm:presLayoutVars>
          <dgm:dir/>
          <dgm:animLvl val="lvl"/>
          <dgm:resizeHandles val="exact"/>
        </dgm:presLayoutVars>
      </dgm:prSet>
      <dgm:spPr/>
    </dgm:pt>
    <dgm:pt modelId="{DB00E5F9-617F-44E3-A014-38E6FECC8647}" type="pres">
      <dgm:prSet presAssocID="{82BEDA70-89F6-4A43-BBB1-D7FE8B2C29FE}" presName="parTxOnly" presStyleLbl="node1" presStyleIdx="0" presStyleCnt="3" custLinFactX="11959" custLinFactNeighborX="100000" custLinFactNeighborY="14980">
        <dgm:presLayoutVars>
          <dgm:chMax val="0"/>
          <dgm:chPref val="0"/>
          <dgm:bulletEnabled val="1"/>
        </dgm:presLayoutVars>
      </dgm:prSet>
      <dgm:spPr/>
    </dgm:pt>
    <dgm:pt modelId="{32E73E90-8C80-402D-A57C-E8D9605482D4}" type="pres">
      <dgm:prSet presAssocID="{634EC738-1DBF-465D-8D85-E38EF14F66AC}" presName="parTxOnlySpace" presStyleCnt="0"/>
      <dgm:spPr/>
    </dgm:pt>
    <dgm:pt modelId="{6D55C8D7-BE63-4278-B438-CBE4F2A5A8C2}" type="pres">
      <dgm:prSet presAssocID="{F3450DD4-FF7C-4E85-A059-97F10BF9FB48}" presName="parTxOnly" presStyleLbl="node1" presStyleIdx="1" presStyleCnt="3" custLinFactX="2006" custLinFactNeighborX="100000" custLinFactNeighborY="14980">
        <dgm:presLayoutVars>
          <dgm:chMax val="0"/>
          <dgm:chPref val="0"/>
          <dgm:bulletEnabled val="1"/>
        </dgm:presLayoutVars>
      </dgm:prSet>
      <dgm:spPr/>
    </dgm:pt>
    <dgm:pt modelId="{02D21D80-1D51-47F8-B11B-B30DC0EDA649}" type="pres">
      <dgm:prSet presAssocID="{B826D916-2C46-4563-87DD-6A550AFF848A}" presName="parTxOnlySpace" presStyleCnt="0"/>
      <dgm:spPr/>
    </dgm:pt>
    <dgm:pt modelId="{B4726048-1EAF-40EB-8582-C2CE6B46F4E1}" type="pres">
      <dgm:prSet presAssocID="{777531B3-1F1B-4ADF-BD82-49B6F398AE83}" presName="parTxOnly" presStyleLbl="node1" presStyleIdx="2" presStyleCnt="3" custLinFactNeighborX="821" custLinFactNeighborY="14980">
        <dgm:presLayoutVars>
          <dgm:chMax val="0"/>
          <dgm:chPref val="0"/>
          <dgm:bulletEnabled val="1"/>
        </dgm:presLayoutVars>
      </dgm:prSet>
      <dgm:spPr/>
    </dgm:pt>
  </dgm:ptLst>
  <dgm:cxnLst>
    <dgm:cxn modelId="{B0EC7A5E-7B7D-4035-8588-68CEC67123AF}" type="presOf" srcId="{F3450DD4-FF7C-4E85-A059-97F10BF9FB48}" destId="{6D55C8D7-BE63-4278-B438-CBE4F2A5A8C2}" srcOrd="0" destOrd="0" presId="urn:microsoft.com/office/officeart/2005/8/layout/chevron1"/>
    <dgm:cxn modelId="{FBF25696-AD5A-4C31-8A30-E6940B1EB013}" type="presOf" srcId="{82BEDA70-89F6-4A43-BBB1-D7FE8B2C29FE}" destId="{DB00E5F9-617F-44E3-A014-38E6FECC8647}" srcOrd="0" destOrd="0" presId="urn:microsoft.com/office/officeart/2005/8/layout/chevron1"/>
    <dgm:cxn modelId="{7614AB8F-FD79-45E1-BE4C-EDEF797CBA47}" srcId="{C0F0F67E-9EA2-40FF-9CCE-7AC1C8EBF410}" destId="{777531B3-1F1B-4ADF-BD82-49B6F398AE83}" srcOrd="2" destOrd="0" parTransId="{0F9EE35C-9C5E-430E-94DA-F8D9FB02976B}" sibTransId="{50E41641-8F37-40F9-A2FA-FC74267CE39F}"/>
    <dgm:cxn modelId="{16519B43-765B-4644-A8CC-4412C2A80B2C}" srcId="{C0F0F67E-9EA2-40FF-9CCE-7AC1C8EBF410}" destId="{82BEDA70-89F6-4A43-BBB1-D7FE8B2C29FE}" srcOrd="0" destOrd="0" parTransId="{A7D7432E-FCA9-40E4-9D94-22884A3EB07C}" sibTransId="{634EC738-1DBF-465D-8D85-E38EF14F66AC}"/>
    <dgm:cxn modelId="{D0686985-9EC7-4C05-BEEA-4AEF8D9F6EC5}" type="presOf" srcId="{C0F0F67E-9EA2-40FF-9CCE-7AC1C8EBF410}" destId="{7C241D95-DEDF-459B-B1A1-E65C184DA6B9}" srcOrd="0" destOrd="0" presId="urn:microsoft.com/office/officeart/2005/8/layout/chevron1"/>
    <dgm:cxn modelId="{A411F91D-772B-40AF-8D96-F78EB9C01765}" srcId="{C0F0F67E-9EA2-40FF-9CCE-7AC1C8EBF410}" destId="{F3450DD4-FF7C-4E85-A059-97F10BF9FB48}" srcOrd="1" destOrd="0" parTransId="{08C68560-31B1-492F-9D38-F962D51DB693}" sibTransId="{B826D916-2C46-4563-87DD-6A550AFF848A}"/>
    <dgm:cxn modelId="{6FE8F173-07B0-46C0-A395-E5C5B5781FA4}" type="presOf" srcId="{777531B3-1F1B-4ADF-BD82-49B6F398AE83}" destId="{B4726048-1EAF-40EB-8582-C2CE6B46F4E1}" srcOrd="0" destOrd="0" presId="urn:microsoft.com/office/officeart/2005/8/layout/chevron1"/>
    <dgm:cxn modelId="{03FBC270-4E96-4EC0-B883-BAAC226A7322}" type="presParOf" srcId="{7C241D95-DEDF-459B-B1A1-E65C184DA6B9}" destId="{DB00E5F9-617F-44E3-A014-38E6FECC8647}" srcOrd="0" destOrd="0" presId="urn:microsoft.com/office/officeart/2005/8/layout/chevron1"/>
    <dgm:cxn modelId="{CCAF164A-AD4A-4AB9-B2E4-D022446149DF}" type="presParOf" srcId="{7C241D95-DEDF-459B-B1A1-E65C184DA6B9}" destId="{32E73E90-8C80-402D-A57C-E8D9605482D4}" srcOrd="1" destOrd="0" presId="urn:microsoft.com/office/officeart/2005/8/layout/chevron1"/>
    <dgm:cxn modelId="{263F991E-AB41-4B17-A72A-A509510A54ED}" type="presParOf" srcId="{7C241D95-DEDF-459B-B1A1-E65C184DA6B9}" destId="{6D55C8D7-BE63-4278-B438-CBE4F2A5A8C2}" srcOrd="2" destOrd="0" presId="urn:microsoft.com/office/officeart/2005/8/layout/chevron1"/>
    <dgm:cxn modelId="{9DC4B170-9F2C-4589-9BE7-C923E6CAADCE}" type="presParOf" srcId="{7C241D95-DEDF-459B-B1A1-E65C184DA6B9}" destId="{02D21D80-1D51-47F8-B11B-B30DC0EDA649}" srcOrd="3" destOrd="0" presId="urn:microsoft.com/office/officeart/2005/8/layout/chevron1"/>
    <dgm:cxn modelId="{0AE049DF-9EC0-4F3D-88D7-EB29CB5C6FFE}" type="presParOf" srcId="{7C241D95-DEDF-459B-B1A1-E65C184DA6B9}" destId="{B4726048-1EAF-40EB-8582-C2CE6B46F4E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9A3FAC-7294-4839-97D2-00A8CFF92BDA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45351ABD-89ED-42D7-878E-1444ADA3003B}">
      <dgm:prSet phldrT="[Metin]" custT="1"/>
      <dgm:spPr/>
      <dgm:t>
        <a:bodyPr/>
        <a:lstStyle/>
        <a:p>
          <a:r>
            <a:rPr lang="tr-TR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planlama</a:t>
          </a:r>
          <a:endParaRPr lang="tr-TR" sz="20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1CAC52B-F68A-4BF8-88BC-2D7BDEDFAE68}" type="parTrans" cxnId="{CD08ECD8-E400-4BFA-BCB7-6F631C27BD40}">
      <dgm:prSet/>
      <dgm:spPr/>
      <dgm:t>
        <a:bodyPr/>
        <a:lstStyle/>
        <a:p>
          <a:endParaRPr lang="tr-TR"/>
        </a:p>
      </dgm:t>
    </dgm:pt>
    <dgm:pt modelId="{06725F8D-1ED2-4F72-93BA-9CCBAAAA6FD8}" type="sibTrans" cxnId="{CD08ECD8-E400-4BFA-BCB7-6F631C27BD40}">
      <dgm:prSet/>
      <dgm:spPr/>
      <dgm:t>
        <a:bodyPr/>
        <a:lstStyle/>
        <a:p>
          <a:endParaRPr lang="tr-TR"/>
        </a:p>
      </dgm:t>
    </dgm:pt>
    <dgm:pt modelId="{78E10CB4-BBE6-4E3E-9C7F-683370080171}">
      <dgm:prSet phldrT="[Metin]" custT="1"/>
      <dgm:spPr/>
      <dgm:t>
        <a:bodyPr/>
        <a:lstStyle/>
        <a:p>
          <a:r>
            <a:rPr lang="tr-TR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analiz</a:t>
          </a:r>
          <a:endParaRPr lang="tr-TR" sz="20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51A05A9-E7CE-430E-8BA5-B5A60F4DA231}" type="parTrans" cxnId="{F21729E1-C360-484C-A07B-45FB6671119A}">
      <dgm:prSet/>
      <dgm:spPr/>
      <dgm:t>
        <a:bodyPr/>
        <a:lstStyle/>
        <a:p>
          <a:endParaRPr lang="tr-TR"/>
        </a:p>
      </dgm:t>
    </dgm:pt>
    <dgm:pt modelId="{52BD189E-64B5-431E-975B-F245F06396A0}" type="sibTrans" cxnId="{F21729E1-C360-484C-A07B-45FB6671119A}">
      <dgm:prSet/>
      <dgm:spPr/>
      <dgm:t>
        <a:bodyPr/>
        <a:lstStyle/>
        <a:p>
          <a:endParaRPr lang="tr-TR"/>
        </a:p>
      </dgm:t>
    </dgm:pt>
    <dgm:pt modelId="{6EABCDC9-91B1-480C-8362-DC5BC3188467}">
      <dgm:prSet phldrT="[Metin]" custT="1"/>
      <dgm:spPr/>
      <dgm:t>
        <a:bodyPr/>
        <a:lstStyle/>
        <a:p>
          <a:r>
            <a:rPr lang="tr-TR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tasarım</a:t>
          </a:r>
          <a:endParaRPr lang="tr-TR" sz="20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D799841-4B1D-4508-91B9-8E78FC519BDF}" type="parTrans" cxnId="{0788700C-508F-4953-9A42-0E90A08BADB9}">
      <dgm:prSet/>
      <dgm:spPr/>
      <dgm:t>
        <a:bodyPr/>
        <a:lstStyle/>
        <a:p>
          <a:endParaRPr lang="tr-TR"/>
        </a:p>
      </dgm:t>
    </dgm:pt>
    <dgm:pt modelId="{8DB81762-7934-4295-8EC7-DF83173519BD}" type="sibTrans" cxnId="{0788700C-508F-4953-9A42-0E90A08BADB9}">
      <dgm:prSet/>
      <dgm:spPr/>
      <dgm:t>
        <a:bodyPr/>
        <a:lstStyle/>
        <a:p>
          <a:endParaRPr lang="tr-TR"/>
        </a:p>
      </dgm:t>
    </dgm:pt>
    <dgm:pt modelId="{C8402F24-2FCB-4078-B499-EDEC10DB9454}" type="pres">
      <dgm:prSet presAssocID="{539A3FAC-7294-4839-97D2-00A8CFF92BDA}" presName="Name0" presStyleCnt="0">
        <dgm:presLayoutVars>
          <dgm:dir/>
          <dgm:animLvl val="lvl"/>
          <dgm:resizeHandles val="exact"/>
        </dgm:presLayoutVars>
      </dgm:prSet>
      <dgm:spPr/>
    </dgm:pt>
    <dgm:pt modelId="{8CF5459D-B31C-4A76-A3F6-227E378FF79D}" type="pres">
      <dgm:prSet presAssocID="{45351ABD-89ED-42D7-878E-1444ADA3003B}" presName="parTxOnly" presStyleLbl="node1" presStyleIdx="0" presStyleCnt="3" custLinFactNeighborX="-96148" custLinFactNeighborY="-362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E936BEB4-3B00-4B0A-B332-59BF0B68EC3F}" type="pres">
      <dgm:prSet presAssocID="{06725F8D-1ED2-4F72-93BA-9CCBAAAA6FD8}" presName="parTxOnlySpace" presStyleCnt="0"/>
      <dgm:spPr/>
    </dgm:pt>
    <dgm:pt modelId="{C42EE5EE-102C-480E-B2DE-A2A1E00CBE73}" type="pres">
      <dgm:prSet presAssocID="{78E10CB4-BBE6-4E3E-9C7F-683370080171}" presName="parTxOnly" presStyleLbl="node1" presStyleIdx="1" presStyleCnt="3" custLinFactX="-11252" custLinFactNeighborX="-100000" custLinFactNeighborY="-362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44B47F29-AA1E-411B-BFB2-AD5DF45497B2}" type="pres">
      <dgm:prSet presAssocID="{52BD189E-64B5-431E-975B-F245F06396A0}" presName="parTxOnlySpace" presStyleCnt="0"/>
      <dgm:spPr/>
    </dgm:pt>
    <dgm:pt modelId="{2D0373B9-DB7F-452E-8398-419A5E15B19F}" type="pres">
      <dgm:prSet presAssocID="{6EABCDC9-91B1-480C-8362-DC5BC3188467}" presName="parTxOnly" presStyleLbl="node1" presStyleIdx="2" presStyleCnt="3" custLinFactX="-20950" custLinFactNeighborX="-100000" custLinFactNeighborY="-362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tr-TR"/>
        </a:p>
      </dgm:t>
    </dgm:pt>
  </dgm:ptLst>
  <dgm:cxnLst>
    <dgm:cxn modelId="{CD08ECD8-E400-4BFA-BCB7-6F631C27BD40}" srcId="{539A3FAC-7294-4839-97D2-00A8CFF92BDA}" destId="{45351ABD-89ED-42D7-878E-1444ADA3003B}" srcOrd="0" destOrd="0" parTransId="{61CAC52B-F68A-4BF8-88BC-2D7BDEDFAE68}" sibTransId="{06725F8D-1ED2-4F72-93BA-9CCBAAAA6FD8}"/>
    <dgm:cxn modelId="{0788700C-508F-4953-9A42-0E90A08BADB9}" srcId="{539A3FAC-7294-4839-97D2-00A8CFF92BDA}" destId="{6EABCDC9-91B1-480C-8362-DC5BC3188467}" srcOrd="2" destOrd="0" parTransId="{6D799841-4B1D-4508-91B9-8E78FC519BDF}" sibTransId="{8DB81762-7934-4295-8EC7-DF83173519BD}"/>
    <dgm:cxn modelId="{E1FBFC5B-ECD6-4D5E-AA91-3CAB9BD32358}" type="presOf" srcId="{539A3FAC-7294-4839-97D2-00A8CFF92BDA}" destId="{C8402F24-2FCB-4078-B499-EDEC10DB9454}" srcOrd="0" destOrd="0" presId="urn:microsoft.com/office/officeart/2005/8/layout/chevron1"/>
    <dgm:cxn modelId="{F21729E1-C360-484C-A07B-45FB6671119A}" srcId="{539A3FAC-7294-4839-97D2-00A8CFF92BDA}" destId="{78E10CB4-BBE6-4E3E-9C7F-683370080171}" srcOrd="1" destOrd="0" parTransId="{A51A05A9-E7CE-430E-8BA5-B5A60F4DA231}" sibTransId="{52BD189E-64B5-431E-975B-F245F06396A0}"/>
    <dgm:cxn modelId="{ED4CA884-8AE0-4F86-8144-A8271D82E8B3}" type="presOf" srcId="{6EABCDC9-91B1-480C-8362-DC5BC3188467}" destId="{2D0373B9-DB7F-452E-8398-419A5E15B19F}" srcOrd="0" destOrd="0" presId="urn:microsoft.com/office/officeart/2005/8/layout/chevron1"/>
    <dgm:cxn modelId="{91352EA9-DDD8-4363-8758-3771B60952D3}" type="presOf" srcId="{78E10CB4-BBE6-4E3E-9C7F-683370080171}" destId="{C42EE5EE-102C-480E-B2DE-A2A1E00CBE73}" srcOrd="0" destOrd="0" presId="urn:microsoft.com/office/officeart/2005/8/layout/chevron1"/>
    <dgm:cxn modelId="{604238D3-50DD-4306-89C1-71A2859A252E}" type="presOf" srcId="{45351ABD-89ED-42D7-878E-1444ADA3003B}" destId="{8CF5459D-B31C-4A76-A3F6-227E378FF79D}" srcOrd="0" destOrd="0" presId="urn:microsoft.com/office/officeart/2005/8/layout/chevron1"/>
    <dgm:cxn modelId="{AE49DBDF-0FF4-48CE-9B65-C835F6F81284}" type="presParOf" srcId="{C8402F24-2FCB-4078-B499-EDEC10DB9454}" destId="{8CF5459D-B31C-4A76-A3F6-227E378FF79D}" srcOrd="0" destOrd="0" presId="urn:microsoft.com/office/officeart/2005/8/layout/chevron1"/>
    <dgm:cxn modelId="{D4FB280D-0150-4F1B-A85E-4EBA88320081}" type="presParOf" srcId="{C8402F24-2FCB-4078-B499-EDEC10DB9454}" destId="{E936BEB4-3B00-4B0A-B332-59BF0B68EC3F}" srcOrd="1" destOrd="0" presId="urn:microsoft.com/office/officeart/2005/8/layout/chevron1"/>
    <dgm:cxn modelId="{89C69BA6-32FB-49F8-BAE6-D723C722CEBF}" type="presParOf" srcId="{C8402F24-2FCB-4078-B499-EDEC10DB9454}" destId="{C42EE5EE-102C-480E-B2DE-A2A1E00CBE73}" srcOrd="2" destOrd="0" presId="urn:microsoft.com/office/officeart/2005/8/layout/chevron1"/>
    <dgm:cxn modelId="{4BE33978-77D4-44DE-A60B-06A650775848}" type="presParOf" srcId="{C8402F24-2FCB-4078-B499-EDEC10DB9454}" destId="{44B47F29-AA1E-411B-BFB2-AD5DF45497B2}" srcOrd="3" destOrd="0" presId="urn:microsoft.com/office/officeart/2005/8/layout/chevron1"/>
    <dgm:cxn modelId="{B8EBCDA3-2739-4E03-9B4B-04E467274F4D}" type="presParOf" srcId="{C8402F24-2FCB-4078-B499-EDEC10DB9454}" destId="{2D0373B9-DB7F-452E-8398-419A5E15B19F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00E5F9-617F-44E3-A014-38E6FECC8647}">
      <dsp:nvSpPr>
        <dsp:cNvPr id="0" name=""/>
        <dsp:cNvSpPr/>
      </dsp:nvSpPr>
      <dsp:spPr>
        <a:xfrm>
          <a:off x="396551" y="1368155"/>
          <a:ext cx="1799145" cy="71965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0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kodlama</a:t>
          </a:r>
          <a:endParaRPr lang="tr-TR" sz="20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56380" y="1368155"/>
        <a:ext cx="1079487" cy="719658"/>
      </dsp:txXfrm>
    </dsp:sp>
    <dsp:sp modelId="{6D55C8D7-BE63-4278-B438-CBE4F2A5A8C2}">
      <dsp:nvSpPr>
        <dsp:cNvPr id="0" name=""/>
        <dsp:cNvSpPr/>
      </dsp:nvSpPr>
      <dsp:spPr>
        <a:xfrm>
          <a:off x="1836712" y="1368155"/>
          <a:ext cx="1799145" cy="71965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0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test</a:t>
          </a:r>
          <a:endParaRPr lang="tr-TR" sz="20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96541" y="1368155"/>
        <a:ext cx="1079487" cy="719658"/>
      </dsp:txXfrm>
    </dsp:sp>
    <dsp:sp modelId="{B4726048-1EAF-40EB-8582-C2CE6B46F4E1}">
      <dsp:nvSpPr>
        <dsp:cNvPr id="0" name=""/>
        <dsp:cNvSpPr/>
      </dsp:nvSpPr>
      <dsp:spPr>
        <a:xfrm>
          <a:off x="3241414" y="1368155"/>
          <a:ext cx="1799145" cy="71965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0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Geri bildirim</a:t>
          </a:r>
          <a:endParaRPr lang="tr-TR" sz="20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01243" y="1368155"/>
        <a:ext cx="1079487" cy="7196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F5459D-B31C-4A76-A3F6-227E378FF79D}">
      <dsp:nvSpPr>
        <dsp:cNvPr id="0" name=""/>
        <dsp:cNvSpPr/>
      </dsp:nvSpPr>
      <dsp:spPr>
        <a:xfrm>
          <a:off x="0" y="1008110"/>
          <a:ext cx="1883105" cy="75324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0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planlama</a:t>
          </a:r>
          <a:endParaRPr lang="tr-TR" sz="20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76621" y="1008110"/>
        <a:ext cx="1129863" cy="753242"/>
      </dsp:txXfrm>
    </dsp:sp>
    <dsp:sp modelId="{C42EE5EE-102C-480E-B2DE-A2A1E00CBE73}">
      <dsp:nvSpPr>
        <dsp:cNvPr id="0" name=""/>
        <dsp:cNvSpPr/>
      </dsp:nvSpPr>
      <dsp:spPr>
        <a:xfrm>
          <a:off x="1296142" y="1008110"/>
          <a:ext cx="1883105" cy="75324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0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analiz</a:t>
          </a:r>
          <a:endParaRPr lang="tr-TR" sz="20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672763" y="1008110"/>
        <a:ext cx="1129863" cy="753242"/>
      </dsp:txXfrm>
    </dsp:sp>
    <dsp:sp modelId="{2D0373B9-DB7F-452E-8398-419A5E15B19F}">
      <dsp:nvSpPr>
        <dsp:cNvPr id="0" name=""/>
        <dsp:cNvSpPr/>
      </dsp:nvSpPr>
      <dsp:spPr>
        <a:xfrm>
          <a:off x="2808314" y="1008110"/>
          <a:ext cx="1883105" cy="75324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0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tasarım</a:t>
          </a:r>
          <a:endParaRPr lang="tr-TR" sz="20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184935" y="1008110"/>
        <a:ext cx="1129863" cy="7532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E6FB5-5B2C-4EFF-B837-4C7693C2045C}" type="datetimeFigureOut">
              <a:rPr lang="tr-TR" smtClean="0"/>
              <a:t>9.06.2026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5148EF2-8BA1-4496-9A3B-F971158F1AF4}" type="slidenum">
              <a:rPr lang="tr-TR" smtClean="0"/>
              <a:t>‹#›</a:t>
            </a:fld>
            <a:endParaRPr lang="tr-TR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E6FB5-5B2C-4EFF-B837-4C7693C2045C}" type="datetimeFigureOut">
              <a:rPr lang="tr-TR" smtClean="0"/>
              <a:t>9.06.2026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8EF2-8BA1-4496-9A3B-F971158F1AF4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E6FB5-5B2C-4EFF-B837-4C7693C2045C}" type="datetimeFigureOut">
              <a:rPr lang="tr-TR" smtClean="0"/>
              <a:t>9.06.2026</a:t>
            </a:fld>
            <a:endParaRPr lang="tr-TR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8EF2-8BA1-4496-9A3B-F971158F1AF4}" type="slidenum">
              <a:rPr lang="tr-TR" smtClean="0"/>
              <a:t>‹#›</a:t>
            </a:fld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E6FB5-5B2C-4EFF-B837-4C7693C2045C}" type="datetimeFigureOut">
              <a:rPr lang="tr-TR" smtClean="0"/>
              <a:t>9.06.2026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8EF2-8BA1-4496-9A3B-F971158F1AF4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E6FB5-5B2C-4EFF-B837-4C7693C2045C}" type="datetimeFigureOut">
              <a:rPr lang="tr-TR" smtClean="0"/>
              <a:t>9.06.2026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8EF2-8BA1-4496-9A3B-F971158F1AF4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E6FB5-5B2C-4EFF-B837-4C7693C2045C}" type="datetimeFigureOut">
              <a:rPr lang="tr-TR" smtClean="0"/>
              <a:t>9.06.2026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8EF2-8BA1-4496-9A3B-F971158F1AF4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E6FB5-5B2C-4EFF-B837-4C7693C2045C}" type="datetimeFigureOut">
              <a:rPr lang="tr-TR" smtClean="0"/>
              <a:t>9.06.2026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8EF2-8BA1-4496-9A3B-F971158F1AF4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E6FB5-5B2C-4EFF-B837-4C7693C2045C}" type="datetimeFigureOut">
              <a:rPr lang="tr-TR" smtClean="0"/>
              <a:t>9.06.2026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8EF2-8BA1-4496-9A3B-F971158F1AF4}" type="slidenum">
              <a:rPr lang="tr-TR" smtClean="0"/>
              <a:t>‹#›</a:t>
            </a:fld>
            <a:endParaRPr lang="tr-TR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E6FB5-5B2C-4EFF-B837-4C7693C2045C}" type="datetimeFigureOut">
              <a:rPr lang="tr-TR" smtClean="0"/>
              <a:t>9.06.2026</a:t>
            </a:fld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8EF2-8BA1-4496-9A3B-F971158F1AF4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E6FB5-5B2C-4EFF-B837-4C7693C2045C}" type="datetimeFigureOut">
              <a:rPr lang="tr-TR" smtClean="0"/>
              <a:t>9.06.2026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8EF2-8BA1-4496-9A3B-F971158F1AF4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E6FB5-5B2C-4EFF-B837-4C7693C2045C}" type="datetimeFigureOut">
              <a:rPr lang="tr-TR" smtClean="0"/>
              <a:t>9.06.2026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8EF2-8BA1-4496-9A3B-F971158F1AF4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10FE6FB5-5B2C-4EFF-B837-4C7693C2045C}" type="datetimeFigureOut">
              <a:rPr lang="tr-TR" smtClean="0"/>
              <a:t>9.06.2026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E5148EF2-8BA1-4496-9A3B-F971158F1AF4}" type="slidenum">
              <a:rPr lang="tr-TR" smtClean="0"/>
              <a:t>‹#›</a:t>
            </a:fld>
            <a:endParaRPr lang="tr-TR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gpt.com/" TargetMode="External"/><Relationship Id="rId7" Type="http://schemas.openxmlformats.org/officeDocument/2006/relationships/hyperlink" Target="https://www.youtube.com/watch?v=e8v8ou_k0fs&amp;list=PL3AsBN9JULagBDRoJOBsRwtSGTB4pnGfA&amp;index=3" TargetMode="External"/><Relationship Id="rId2" Type="http://schemas.openxmlformats.org/officeDocument/2006/relationships/hyperlink" Target="https://www.youtube.com/watch?v=r9_7EQLINzw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youtube.com/watch?v=cNROckskuAo&amp;list=PLjWgN8Op9K4ZmhVvfSk-bLqlry9rp_ZKI" TargetMode="External"/><Relationship Id="rId5" Type="http://schemas.openxmlformats.org/officeDocument/2006/relationships/hyperlink" Target="https://developer.mozilla.org/en-US/docs/Web/CSS" TargetMode="External"/><Relationship Id="rId4" Type="http://schemas.openxmlformats.org/officeDocument/2006/relationships/hyperlink" Target="https://developer.mozilla.org/en-US/docs/Web/HTML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762000" y="1524000"/>
            <a:ext cx="762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tr-TR" sz="3600" b="1" dirty="0" smtClean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ABAK İnşaat Web Sitesi</a:t>
            </a:r>
            <a:endParaRPr lang="tr-TR" sz="3600" b="1" dirty="0">
              <a:solidFill>
                <a:srgbClr val="3030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762000" y="2667000"/>
            <a:ext cx="762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tr-TR" sz="2400" dirty="0" smtClean="0">
                <a:solidFill>
                  <a:srgbClr val="C472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Bursa / Karacabey - İnşaat Firması Tanıtım Sitesi</a:t>
            </a:r>
            <a:endParaRPr lang="tr-TR" sz="2400" dirty="0">
              <a:solidFill>
                <a:srgbClr val="C4724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etin kutusu 3"/>
          <p:cNvSpPr txBox="1"/>
          <p:nvPr/>
        </p:nvSpPr>
        <p:spPr>
          <a:xfrm>
            <a:off x="762000" y="3937000"/>
            <a:ext cx="7620000" cy="11079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Hazırlayan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Sevdehan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Yılmaz</a:t>
            </a:r>
            <a:endParaRPr lang="tr-TR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Öğrenci Numarası:262384057</a:t>
            </a:r>
            <a:endParaRPr lang="tr-TR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Danışman Adı : Koray Coşkun</a:t>
            </a:r>
            <a:endParaRPr lang="tr-TR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708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587829" y="3810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tr-T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Projenin Tanımı</a:t>
            </a:r>
            <a:endParaRPr lang="tr-T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635000" y="1206500"/>
            <a:ext cx="7874000" cy="415498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 projede ABAK İnşaat firması için bir web sitesi yaptım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Firma Bursa/Karacabey bölgesinde inşaat hizmeti veriyor.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tr-TR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Sitenin 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amacı: 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Hali hazırda var olan bir inşaat firmasını tanıtmak, firmanın yapmış olduğu projeleri sergilemek ve sağlıklı ve kolay iletişim sağlamaktır.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tr-TR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Müşterilerin rahatça istedikleri bilgiye ulaşabildikleri ve firmayla </a:t>
            </a:r>
            <a:r>
              <a:rPr lang="tr-T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yüzyüze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görüşmeye gerek kalmadan teklif verebilecekleri , kullanımı ve anlaşılması kolay bir web sitesi tasarlamaktır.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tr-TR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79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635000" y="3810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tr-T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Planlama</a:t>
            </a:r>
            <a:endParaRPr lang="tr-T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635000" y="1210827"/>
            <a:ext cx="7874000" cy="38164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Öncelikle nasıl bir proje tasarlamak istediğime karar  verdim. Düşündükçe fikirlerim değişti. Projenin başından sonuna kadar üç fikir değiştirmiş bulundum. Sonunda inşaat firması yapmakta karar kıldım.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Karar verdikten sonra fir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manın 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ihtiyaçlarını belirledim (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sayfalar, proje görselleri, 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iletişim 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 vs.).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Oluşturmak istediğim sitenin renklerini ve bilgilerini tasarladım.</a:t>
            </a:r>
            <a:endParaRPr lang="tr-TR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Hangi teknolojileri kullanacağımı seçtim: PHP, HTML, CSS, </a:t>
            </a:r>
            <a:r>
              <a:rPr lang="tr-T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XAMPP ile bilgisayarımda yerel sunucu kurulumu yaptım 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Tasarımda 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basit ve anlaşılır bir görünüm 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hedefledim.</a:t>
            </a:r>
            <a:endParaRPr lang="tr-T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907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/>
          <p:cNvSpPr txBox="1"/>
          <p:nvPr/>
        </p:nvSpPr>
        <p:spPr>
          <a:xfrm>
            <a:off x="611560" y="404664"/>
            <a:ext cx="74888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2.Planlama/Süreç Modeli</a:t>
            </a:r>
            <a:endParaRPr lang="tr-T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etin kutusu 3"/>
          <p:cNvSpPr txBox="1"/>
          <p:nvPr/>
        </p:nvSpPr>
        <p:spPr>
          <a:xfrm>
            <a:off x="755576" y="1268760"/>
            <a:ext cx="770485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Projede kullanmak için en uygun süreç modelinin çevik (</a:t>
            </a:r>
            <a:r>
              <a:rPr lang="tr-T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agile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model olduğunu düşündüm.</a:t>
            </a:r>
          </a:p>
          <a:p>
            <a:r>
              <a:rPr lang="tr-T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Çevik (</a:t>
            </a:r>
            <a:r>
              <a:rPr lang="tr-TR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Agile</a:t>
            </a:r>
            <a:r>
              <a:rPr lang="tr-T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)Model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Değişikliklere hızlı uyum sağlamak,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Sürekli geliştirmeye açık olmak 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Geri bildirim alabilmek,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Hataları erken </a:t>
            </a:r>
            <a:r>
              <a:rPr lang="tr-T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farketmek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Daha hızlı sonuç alabilmek için bu modeli seçtim.</a:t>
            </a:r>
          </a:p>
          <a:p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Tabii ki her modelde olduğu gibi bu modelin de dezavantajları var. Süreç modelini seçerken dezavantajlarını da göz önünde bulundurdum. Bunlar da;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Gidişat sürekli değişebildiği için proje süresi ve maliyeti hesaplanamayabiliyor,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Gelişime açık olduğu için bazı belgeler eksik kalabiliyor,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Geri bildirim süreçleri zaman alabiliyor.</a:t>
            </a:r>
          </a:p>
          <a:p>
            <a:endParaRPr lang="tr-T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250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616022" y="404664"/>
            <a:ext cx="7416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2.Planlama/Süreç Modeli</a:t>
            </a:r>
            <a:endParaRPr lang="tr-T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Diyagram 21"/>
          <p:cNvGraphicFramePr/>
          <p:nvPr>
            <p:extLst>
              <p:ext uri="{D42A27DB-BD31-4B8C-83A1-F6EECF244321}">
                <p14:modId xmlns:p14="http://schemas.microsoft.com/office/powerpoint/2010/main" val="3037287350"/>
              </p:ext>
            </p:extLst>
          </p:nvPr>
        </p:nvGraphicFramePr>
        <p:xfrm>
          <a:off x="4103440" y="1268760"/>
          <a:ext cx="5040560" cy="3240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3" name="Diyagram 22"/>
          <p:cNvGraphicFramePr/>
          <p:nvPr>
            <p:extLst>
              <p:ext uri="{D42A27DB-BD31-4B8C-83A1-F6EECF244321}">
                <p14:modId xmlns:p14="http://schemas.microsoft.com/office/powerpoint/2010/main" val="689336200"/>
              </p:ext>
            </p:extLst>
          </p:nvPr>
        </p:nvGraphicFramePr>
        <p:xfrm>
          <a:off x="179512" y="1628800"/>
          <a:ext cx="5275786" cy="2824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4" name="Metin kutusu 23"/>
          <p:cNvSpPr txBox="1"/>
          <p:nvPr/>
        </p:nvSpPr>
        <p:spPr>
          <a:xfrm>
            <a:off x="323528" y="4575031"/>
            <a:ext cx="85689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Çevik modelinin en önemli özelliği bu geri bildirim ve sürekli geliştirme döngüsüdür. </a:t>
            </a:r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Metin kutusu 25"/>
          <p:cNvSpPr txBox="1"/>
          <p:nvPr/>
        </p:nvSpPr>
        <p:spPr>
          <a:xfrm>
            <a:off x="6588224" y="3501008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Şekil 1. Çevik Model Döngüsü</a:t>
            </a:r>
            <a:endParaRPr lang="tr-T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688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611560" y="404664"/>
            <a:ext cx="8280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Zaman Planlaması</a:t>
            </a:r>
            <a:endParaRPr lang="tr-T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etin kutusu 3"/>
          <p:cNvSpPr txBox="1"/>
          <p:nvPr/>
        </p:nvSpPr>
        <p:spPr>
          <a:xfrm>
            <a:off x="476729" y="927884"/>
            <a:ext cx="8064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1-2 HAFTA                                                                         3. HAFTA</a:t>
            </a:r>
          </a:p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Hangi projeyi , nasıl                                                          Proje için hangi dilleri</a:t>
            </a:r>
          </a:p>
          <a:p>
            <a:r>
              <a:rPr lang="tr-T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Yapacağıma karar verdim                                                  kullanacağımı kesinleştirdim</a:t>
            </a:r>
            <a:r>
              <a:rPr lang="tr-T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</a:t>
            </a:r>
          </a:p>
        </p:txBody>
      </p:sp>
      <p:sp>
        <p:nvSpPr>
          <p:cNvPr id="5" name="Sağ Ok 4"/>
          <p:cNvSpPr/>
          <p:nvPr/>
        </p:nvSpPr>
        <p:spPr>
          <a:xfrm>
            <a:off x="3707904" y="1147514"/>
            <a:ext cx="1194432" cy="8903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Sağ Ok 5"/>
          <p:cNvSpPr/>
          <p:nvPr/>
        </p:nvSpPr>
        <p:spPr>
          <a:xfrm rot="5400000">
            <a:off x="6415806" y="1966769"/>
            <a:ext cx="1137276" cy="9364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Metin kutusu 6"/>
          <p:cNvSpPr txBox="1"/>
          <p:nvPr/>
        </p:nvSpPr>
        <p:spPr>
          <a:xfrm>
            <a:off x="5616292" y="3074132"/>
            <a:ext cx="2736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           </a:t>
            </a:r>
            <a:r>
              <a:rPr lang="tr-T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3-4 HAFTA</a:t>
            </a:r>
          </a:p>
          <a:p>
            <a:r>
              <a:rPr lang="tr-T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Kullanacağım diller için ön                                         çalışma yaptım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ağ Ok 7"/>
          <p:cNvSpPr/>
          <p:nvPr/>
        </p:nvSpPr>
        <p:spPr>
          <a:xfrm rot="10800000">
            <a:off x="3447454" y="3080182"/>
            <a:ext cx="1338448" cy="9462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Metin kutusu 8"/>
          <p:cNvSpPr txBox="1"/>
          <p:nvPr/>
        </p:nvSpPr>
        <p:spPr>
          <a:xfrm>
            <a:off x="611560" y="3080182"/>
            <a:ext cx="23042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4-7 HAFTA</a:t>
            </a:r>
          </a:p>
          <a:p>
            <a:r>
              <a:rPr lang="tr-T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Planımı yaptım ve      projeye başladım 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şağı Ok 9"/>
          <p:cNvSpPr/>
          <p:nvPr/>
        </p:nvSpPr>
        <p:spPr>
          <a:xfrm rot="19153674">
            <a:off x="1233340" y="4190133"/>
            <a:ext cx="1060696" cy="12664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Metin kutusu 10"/>
          <p:cNvSpPr txBox="1"/>
          <p:nvPr/>
        </p:nvSpPr>
        <p:spPr>
          <a:xfrm>
            <a:off x="2373764" y="5013176"/>
            <a:ext cx="21473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     </a:t>
            </a:r>
            <a:r>
              <a:rPr lang="tr-T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7-8 HAFTA</a:t>
            </a:r>
          </a:p>
          <a:p>
            <a:r>
              <a:rPr lang="tr-T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Son dokunuşları yaptım ve raporlara geçtim.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ağ Ok 11"/>
          <p:cNvSpPr/>
          <p:nvPr/>
        </p:nvSpPr>
        <p:spPr>
          <a:xfrm>
            <a:off x="4572000" y="5013176"/>
            <a:ext cx="1332148" cy="10081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Metin kutusu 12"/>
          <p:cNvSpPr txBox="1"/>
          <p:nvPr/>
        </p:nvSpPr>
        <p:spPr>
          <a:xfrm>
            <a:off x="6156176" y="5013176"/>
            <a:ext cx="2196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     </a:t>
            </a:r>
            <a:r>
              <a:rPr lang="tr-T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9-10HAFTA</a:t>
            </a:r>
          </a:p>
          <a:p>
            <a:r>
              <a:rPr lang="tr-T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Raporları da bitirip teslim ettim.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Metin kutusu 13"/>
          <p:cNvSpPr txBox="1"/>
          <p:nvPr/>
        </p:nvSpPr>
        <p:spPr>
          <a:xfrm>
            <a:off x="6745202" y="6052457"/>
            <a:ext cx="2147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Şekil 2. Zaman Planlaması</a:t>
            </a:r>
            <a:endParaRPr lang="tr-T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247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508000" y="3810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tr-T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Çözümleme / Analiz</a:t>
            </a:r>
            <a:endParaRPr lang="tr-T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635000" y="1003686"/>
            <a:ext cx="7874000" cy="58477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PROBLEMLER: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Firmanın müşterileri ofise gelmeden yapılan çalışmaları göremiyorlardı.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irma sahibine fikirlerini sunup  teklif veremiyorlardı.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osyal medya hesaplarına erişemiyorlar ve iletişime geçemiyorlardı.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Firma sahibinin yaptığı çalışmaları paylaşıp müşterilerine gösterebileceği bir platform bulunmuyordu .Bunlar birer ihtiyaçtı.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ÇÖZÜMLER: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Yapmış olduğum web sitesinde firma sahibi yapmış olduğu tüm çalışmaların görsellerini yükleyebiliyor.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Bütün sosyal medya hesaplarının bulunduğu bir iletişim kısmı bulunuyor.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Ayrıca müşterilerin fikirlerini sunup firma sahibinden teklif alabilecekleri bir kısım da bulunuyor.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tr-TR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102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508000" y="3810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tr-T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Çözümleme - Dosya Yapısı</a:t>
            </a:r>
            <a:endParaRPr lang="tr-T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508000" y="1016000"/>
            <a:ext cx="5080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tr-TR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Tablo 1. Proje dosya yapısı</a:t>
            </a:r>
            <a:endParaRPr lang="tr-TR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o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869549"/>
              </p:ext>
            </p:extLst>
          </p:nvPr>
        </p:nvGraphicFramePr>
        <p:xfrm>
          <a:off x="635000" y="1460500"/>
          <a:ext cx="7874000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7000"/>
                <a:gridCol w="3937000"/>
              </a:tblGrid>
              <a:tr h="406400">
                <a:tc>
                  <a:txBody>
                    <a:bodyPr/>
                    <a:lstStyle/>
                    <a:p>
                      <a:r>
                        <a:rPr lang="tr-TR" sz="2000" b="1" dirty="0" smtClean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Dosya / </a:t>
                      </a:r>
                      <a:r>
                        <a:rPr lang="tr-TR" sz="2000" b="1" dirty="0" smtClean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Klasör</a:t>
                      </a:r>
                      <a:endParaRPr lang="tr-TR" sz="2000" b="1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C47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 sz="2000" b="1" smtClean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Açıklama</a:t>
                      </a:r>
                      <a:endParaRPr lang="tr-TR" sz="20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C47244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lang="tr-TR" sz="2000" b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index.php</a:t>
                      </a:r>
                      <a:endParaRPr lang="tr-TR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8E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 sz="2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 sayfa</a:t>
                      </a:r>
                      <a:endParaRPr lang="tr-TR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8ED9D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lang="tr-TR" sz="2000" b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hakkimizda.php</a:t>
                      </a:r>
                      <a:endParaRPr lang="tr-TR" sz="20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Firma hakkında bilgi</a:t>
                      </a:r>
                      <a:endParaRPr lang="tr-TR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lang="tr-TR" sz="2000" b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hizmetler.php</a:t>
                      </a:r>
                      <a:endParaRPr lang="tr-TR" sz="20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8E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 sz="2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Sunulan hizmetler</a:t>
                      </a:r>
                      <a:endParaRPr lang="tr-TR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8ED9D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lang="tr-TR" sz="2000" b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projeler.php</a:t>
                      </a:r>
                      <a:endParaRPr lang="tr-TR" sz="20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Tamamlanan projeler</a:t>
                      </a:r>
                      <a:endParaRPr lang="tr-TR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lang="tr-TR" sz="2000" b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iletisim.php</a:t>
                      </a:r>
                      <a:endParaRPr lang="tr-TR" sz="20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8E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 sz="2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İletişim formu sayfası</a:t>
                      </a:r>
                      <a:endParaRPr lang="tr-TR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8ED9D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lang="tr-TR" sz="2000" b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mesaj.php</a:t>
                      </a:r>
                      <a:endParaRPr lang="tr-TR" sz="20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 verilerini kaydeden dosya</a:t>
                      </a:r>
                      <a:endParaRPr lang="tr-TR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lang="tr-TR" sz="2000" b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baglanti.php</a:t>
                      </a:r>
                      <a:endParaRPr lang="tr-TR" sz="20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8E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 sz="2000" b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Veritabanı</a:t>
                      </a:r>
                      <a:r>
                        <a:rPr lang="tr-TR" sz="2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bağlantısı</a:t>
                      </a:r>
                      <a:endParaRPr lang="tr-TR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8ED9D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lang="tr-TR" sz="2000" b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stil.css</a:t>
                      </a:r>
                      <a:endParaRPr lang="tr-TR" sz="20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Site stilleri </a:t>
                      </a:r>
                      <a:endParaRPr lang="tr-TR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lang="tr-TR" sz="2000" b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veritabani.sql</a:t>
                      </a:r>
                      <a:endParaRPr lang="tr-TR" sz="20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8E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 sz="2000" b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Veritabanı</a:t>
                      </a:r>
                      <a:r>
                        <a:rPr lang="tr-TR" sz="2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oluşturma </a:t>
                      </a:r>
                      <a:endParaRPr lang="tr-TR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8ED9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1484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508000" y="3810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tr-T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Tasarım</a:t>
            </a:r>
            <a:endParaRPr lang="tr-T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635000" y="904220"/>
            <a:ext cx="8185472" cy="246221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Abak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İnşaat’ın ofis tasarımında kullandığı renkleri sitede de kullanmak </a:t>
            </a:r>
            <a:r>
              <a:rPr lang="tr-T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istedim.Bu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yüzden renk kodlarını buldum. B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eyaz ,turuncu 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 mavi 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tonlarını kullandım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 sayfanın ü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 kısmında aynı logo 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 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menü bölümü yer alıyor. </a:t>
            </a:r>
            <a:endParaRPr lang="tr-TR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Tüm sayfalarda aynı </a:t>
            </a:r>
            <a:r>
              <a:rPr lang="tr-T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(başlık) 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 </a:t>
            </a:r>
            <a:r>
              <a:rPr lang="tr-T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footer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(alt bilgi) 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yapısı 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bulunuyor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Sitede yer alan tüm g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örselleri </a:t>
            </a:r>
            <a:r>
              <a:rPr lang="tr-T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klasöründe 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tuttum.</a:t>
            </a:r>
            <a:endParaRPr lang="tr-T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Metin kutusu 4"/>
          <p:cNvSpPr txBox="1"/>
          <p:nvPr/>
        </p:nvSpPr>
        <p:spPr>
          <a:xfrm>
            <a:off x="6601882" y="4141023"/>
            <a:ext cx="2232248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sv-SE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Resim 1. Ana sayfa ekran görüntüsü</a:t>
            </a:r>
            <a:endParaRPr lang="tr-T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55" y="3539994"/>
            <a:ext cx="5936727" cy="3119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8525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508000" y="3810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tr-T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Gerçekleştirim / Kodlama</a:t>
            </a:r>
            <a:endParaRPr lang="tr-T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635000" y="1206500"/>
            <a:ext cx="7874000" cy="34778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Projeyi yaparken dört 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programlama dili kullandım. Bunlar;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tr-TR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r-TR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Peki bu kodları nerede kullandım;</a:t>
            </a:r>
            <a:endParaRPr lang="tr-TR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PHP 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ile dinamik sayfalar oluşturdum 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baglanti.php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dosyasını </a:t>
            </a:r>
            <a:r>
              <a:rPr lang="tr-T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ederek DB bağlantısı sağladım.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İletişim 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formunda ad, telefon, e-posta ve mesaj alanları var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644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508000" y="3810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tr-T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Gerçekleştirim - Kullanılan Teknolojiler</a:t>
            </a:r>
            <a:endParaRPr lang="tr-T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508000" y="1016000"/>
            <a:ext cx="660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tr-TR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Tablo 2. Kullanılan teknolojiler ve amaçları</a:t>
            </a:r>
            <a:endParaRPr lang="tr-TR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o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665895"/>
              </p:ext>
            </p:extLst>
          </p:nvPr>
        </p:nvGraphicFramePr>
        <p:xfrm>
          <a:off x="1007604" y="1844824"/>
          <a:ext cx="7128792" cy="3528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396"/>
                <a:gridCol w="3564396"/>
              </a:tblGrid>
              <a:tr h="533160">
                <a:tc>
                  <a:txBody>
                    <a:bodyPr/>
                    <a:lstStyle/>
                    <a:p>
                      <a:r>
                        <a:rPr lang="tr-TR" sz="2000" b="1" dirty="0" smtClean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Teknoloji</a:t>
                      </a:r>
                      <a:endParaRPr lang="tr-TR" sz="2000" b="1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C47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 sz="2000" b="1" dirty="0" smtClean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Amaç</a:t>
                      </a:r>
                      <a:endParaRPr lang="tr-TR" sz="2000" b="1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C47244"/>
                    </a:solidFill>
                  </a:tcPr>
                </a:tc>
              </a:tr>
              <a:tr h="548668">
                <a:tc>
                  <a:txBody>
                    <a:bodyPr/>
                    <a:lstStyle/>
                    <a:p>
                      <a:r>
                        <a:rPr lang="tr-TR" sz="2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PHP </a:t>
                      </a:r>
                      <a:endParaRPr lang="tr-TR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8E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 sz="2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Sunucu tarafı işlemler</a:t>
                      </a:r>
                      <a:endParaRPr lang="tr-TR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8ED9D9"/>
                    </a:solidFill>
                  </a:tcPr>
                </a:tc>
              </a:tr>
              <a:tr h="690122">
                <a:tc>
                  <a:txBody>
                    <a:bodyPr/>
                    <a:lstStyle/>
                    <a:p>
                      <a:r>
                        <a:rPr lang="tr-TR" sz="2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</a:t>
                      </a:r>
                      <a:endParaRPr lang="tr-TR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Sayfa yapısını oluşturma</a:t>
                      </a:r>
                      <a:endParaRPr lang="tr-TR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33160">
                <a:tc>
                  <a:txBody>
                    <a:bodyPr/>
                    <a:lstStyle/>
                    <a:p>
                      <a:r>
                        <a:rPr lang="tr-TR" sz="2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CSS</a:t>
                      </a:r>
                      <a:endParaRPr lang="tr-TR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8E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 sz="2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Görünüm ve düzen</a:t>
                      </a:r>
                      <a:endParaRPr lang="tr-TR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8ED9D9"/>
                    </a:solidFill>
                  </a:tcPr>
                </a:tc>
              </a:tr>
              <a:tr h="690122">
                <a:tc>
                  <a:txBody>
                    <a:bodyPr/>
                    <a:lstStyle/>
                    <a:p>
                      <a:r>
                        <a:rPr lang="tr-TR" sz="2000" b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MySQL</a:t>
                      </a:r>
                      <a:endParaRPr lang="tr-TR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Mesaj verilerini saklama</a:t>
                      </a:r>
                      <a:endParaRPr lang="tr-TR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33160">
                <a:tc>
                  <a:txBody>
                    <a:bodyPr/>
                    <a:lstStyle/>
                    <a:p>
                      <a:r>
                        <a:rPr lang="tr-TR" sz="2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XAMPP</a:t>
                      </a:r>
                      <a:endParaRPr lang="tr-TR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8E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 sz="2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Yerel geliştirme</a:t>
                      </a:r>
                      <a:r>
                        <a:rPr lang="tr-TR" sz="2000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ortamı</a:t>
                      </a:r>
                      <a:endParaRPr lang="tr-TR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8ED9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9570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508000" y="3810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tr-T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Gerçekleştirim - İletişim Formu</a:t>
            </a:r>
            <a:endParaRPr lang="tr-T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635000" y="1143001"/>
            <a:ext cx="8185472" cy="14465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iletisim.php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sayfasında HTML form 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bulunmaktadır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Veritabanı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insaat_db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tablo: mesajlar.</a:t>
            </a:r>
            <a:endParaRPr lang="da-DK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a-DK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Alanlar: id, ad, telefon, email, mesaj, tarih.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a-DK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veritabani.sql dosyası ile tablo </a:t>
            </a:r>
            <a:r>
              <a:rPr lang="da-DK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oluşturul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muştur.</a:t>
            </a:r>
          </a:p>
        </p:txBody>
      </p:sp>
      <p:sp>
        <p:nvSpPr>
          <p:cNvPr id="5" name="Metin kutusu 4"/>
          <p:cNvSpPr txBox="1"/>
          <p:nvPr/>
        </p:nvSpPr>
        <p:spPr>
          <a:xfrm>
            <a:off x="2771800" y="5949280"/>
            <a:ext cx="304435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tr-T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Resim 2. İletişim formu ekran görüntüsü</a:t>
            </a:r>
            <a:endParaRPr lang="tr-T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5" y="2678656"/>
            <a:ext cx="7056785" cy="312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858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508000" y="3810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tr-T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 Bakım / Destek</a:t>
            </a:r>
            <a:endParaRPr lang="tr-T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635000" y="1206500"/>
            <a:ext cx="7874000" cy="44935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 tamamlandıktan sonra oluşabilecek hataların giderilmesi, güvenlik güncellemelerinin yapılması ve kullanıcı ihtiyaçlarına göre yeni özelliklerin eklenmesi bakım ve destek aşamasında gerçekleştirilecektir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Zamanla gelebilecek yenilikler;</a:t>
            </a:r>
          </a:p>
          <a:p>
            <a:endParaRPr lang="tr-TR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Müşterilerin teklif verirken kendi taslak resimlerini de atabilmeleri sağlanacak.</a:t>
            </a:r>
          </a:p>
          <a:p>
            <a:pPr marL="457200" indent="-457200">
              <a:buFont typeface="+mj-lt"/>
              <a:buAutoNum type="arabicPeriod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Firmanın müşterilerin istediği şekilde tamamladığı projeleri paylaşacağı , müşteri memnuniyetleri adı altında yeni bir sayfa oluşturulacak .  </a:t>
            </a:r>
          </a:p>
          <a:p>
            <a:pPr marL="457200" indent="-457200">
              <a:buFont typeface="+mj-lt"/>
              <a:buAutoNum type="arabicPeriod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 eksikleri tamamlandıktan sonra gerçek sunucuya taşıma ve domain bağlama işlemleri yapılacaktır.</a:t>
            </a:r>
            <a:endParaRPr lang="tr-TR" sz="220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3374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508000" y="3810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tr-T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7. Sonuç / Değerlendirme</a:t>
            </a:r>
            <a:endParaRPr lang="tr-T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635000" y="1206500"/>
            <a:ext cx="7874000" cy="48320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Sonuç olarak projenin amacı gerçekleşti ve kullanıcı ihtiyaçlarını karşıladı.</a:t>
            </a:r>
          </a:p>
          <a:p>
            <a:r>
              <a:rPr lang="tr-TR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 proje sayesinde 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 ve PHP konularında kendimi eski seviyeme göre geliştirdiğimi düşünüyorum.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CSS konusunu çalışıp öğrenmiş ve basit seviyede bir projede kullanmış oldum.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Yapmış olduğum proje domain alıp sunucuya bağlandıktan sonra kullanıma geçeceği için de ayrıca mutluyum.</a:t>
            </a:r>
          </a:p>
          <a:p>
            <a:r>
              <a:rPr lang="tr-TR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Karşılaştığım zorluklar;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Projenin CSS ve HTML kısmını öğrenmekte biraz zorlanmış bulundum.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Nasıl bir proje yapacağıma karar vermekte de oldukça zorlandım.</a:t>
            </a:r>
          </a:p>
          <a:p>
            <a:pPr marL="457200" indent="-457200">
              <a:buFont typeface="+mj-lt"/>
              <a:buAutoNum type="arabicPeriod"/>
            </a:pPr>
            <a:endParaRPr lang="tr-TR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948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508000" y="3810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tr-T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tr-T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Kaynakça</a:t>
            </a:r>
            <a:endParaRPr lang="tr-T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635000" y="1270000"/>
            <a:ext cx="7874000" cy="501675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PHP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Group. PHP Manual.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://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www.php.net/manual/tr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/[1]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W3Schools.HTML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Eğ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itimi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ttps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://www.w3schools.com/html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 Dersleri.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://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www.youtube.com/watch?v=r9_7EQLINzw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https://chatgpt.com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/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 -</a:t>
            </a:r>
            <a:r>
              <a:rPr lang="tr-T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Mdn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://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developer.mozilla.org/en-US/docs/Web/HTML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CSS-</a:t>
            </a:r>
            <a:r>
              <a:rPr lang="tr-T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Mdn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://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developer.mozilla.org/en-US/docs/Web/CSS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HTML-CSS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://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www.youtube.com/watch?v=cNROckskuAo&amp;list=PLjWgN8Op9K4ZmhVvfSk-bLqlry9rp_ZKI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 yapım için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://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www.youtube.com/watch?v=e8v8ou_k0fs&amp;list=PL3AsBN9JULagBDRoJOBsRwtSGTB4pnGfA&amp;index=3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[8]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Udemy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https://www.udemy.com/?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srsltid=AfmBOoqruJIGiV8uzQshlFpeO9a4xpGgy-UsDu9b19KAV-6r0_I20fuC[9]</a:t>
            </a:r>
            <a:endParaRPr lang="tr-T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834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762000" y="1778000"/>
            <a:ext cx="762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tr-TR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Teşekkürler</a:t>
            </a:r>
            <a:endParaRPr lang="tr-TR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762000" y="2921000"/>
            <a:ext cx="7620000" cy="212365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endParaRPr lang="it-IT" sz="2200" dirty="0" smtClean="0">
              <a:latin typeface="Calibri"/>
            </a:endParaRPr>
          </a:p>
          <a:p>
            <a:pPr algn="ctr"/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Ad-</a:t>
            </a:r>
            <a:r>
              <a:rPr lang="tr-T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SoyadSevdehan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Yılmaz</a:t>
            </a:r>
          </a:p>
          <a:p>
            <a:pPr algn="ctr"/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Öğrenci Numarası:262384057</a:t>
            </a:r>
          </a:p>
          <a:p>
            <a:pPr algn="ctr"/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Öğrenci e-posta:262384057@ogr.uludag.edu.tr</a:t>
            </a:r>
            <a:endParaRPr lang="tr-T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Danışman </a:t>
            </a:r>
            <a:r>
              <a:rPr lang="tr-T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Adı:Koray</a:t>
            </a:r>
            <a:r>
              <a:rPr lang="tr-T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Coşkun</a:t>
            </a:r>
            <a:endParaRPr lang="it-IT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tr-T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it-IT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oje</a:t>
            </a:r>
            <a:r>
              <a:rPr lang="it-IT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http://localhost/web-site/</a:t>
            </a:r>
            <a:endParaRPr lang="tr-T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891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czacı">
  <a:themeElements>
    <a:clrScheme name="Eczacı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Eczacı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czacı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595</TotalTime>
  <Words>943</Words>
  <Application>Microsoft Office PowerPoint</Application>
  <PresentationFormat>Ekran Gösterisi (4:3)</PresentationFormat>
  <Paragraphs>154</Paragraphs>
  <Slides>16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17" baseType="lpstr">
      <vt:lpstr>Eczacı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Sevde Yılmaz</dc:creator>
  <cp:lastModifiedBy>Sevde Yılmaz</cp:lastModifiedBy>
  <cp:revision>26</cp:revision>
  <dcterms:created xsi:type="dcterms:W3CDTF">2026-06-09T08:57:55Z</dcterms:created>
  <dcterms:modified xsi:type="dcterms:W3CDTF">2026-06-09T18:55:00Z</dcterms:modified>
</cp:coreProperties>
</file>